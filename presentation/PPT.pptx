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0" d="100"/>
          <a:sy n="120" d="100"/>
        </p:scale>
        <p:origin x="370" y="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A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A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708660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Quantum-Assisted Optimization Engine for CXL-Aware Hybrid Scheduling</a:t>
            </a:r>
          </a:p>
          <a:p>
            <a:endParaRPr lang="en-IN" sz="4000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  <a:p>
            <a:endParaRPr lang="en-IN" sz="4000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412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mbria"/>
              </a:rPr>
              <a:t>System Architecture</a:t>
            </a:r>
          </a:p>
        </p:txBody>
      </p:sp>
      <p:pic>
        <p:nvPicPr>
          <p:cNvPr id="4" name="Picture 3" descr="img_s2_Image 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640080"/>
            <a:ext cx="8686800" cy="43434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4841100"/>
            <a:ext cx="841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Tasks → Scheduler (Classical / RQAOA) → Assignment → Execution Layer → execution_log.csv → Evaluation → Results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412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mbria"/>
              </a:rPr>
              <a:t>main.py — Entry Point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685800"/>
            <a:ext cx="4206240" cy="4160280"/>
          </a:xfrm>
          <a:prstGeom prst="rect">
            <a:avLst/>
          </a:prstGeom>
          <a:solidFill>
            <a:srgbClr val="0D1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484200" y="831800"/>
            <a:ext cx="109728" cy="109728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94200" y="831800"/>
            <a:ext cx="109728" cy="109728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04200" y="831800"/>
            <a:ext cx="109728" cy="109728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4200" y="1035800"/>
            <a:ext cx="3876240" cy="3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</a:pPr>
            <a:r>
              <a:rPr sz="1200" b="0">
                <a:solidFill>
                  <a:srgbClr val="A8FF78"/>
                </a:solidFill>
                <a:latin typeface="Courier New"/>
              </a:rPr>
              <a:t>$ python main.py --scheduler rqaoa</a:t>
            </a:r>
          </a:p>
          <a:p>
            <a:pPr>
              <a:spcAft>
                <a:spcPts val="100"/>
              </a:spcAft>
            </a:pPr>
            <a:endParaRPr sz="1200" b="0">
              <a:solidFill>
                <a:srgbClr val="A8FF78"/>
              </a:solidFill>
              <a:latin typeface="Courier New"/>
            </a:endParaRP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668866"/>
                </a:solidFill>
                <a:latin typeface="Courier New"/>
              </a:rPr>
              <a:t># entry point — starts entire workflow</a:t>
            </a:r>
          </a:p>
          <a:p>
            <a:pPr>
              <a:spcAft>
                <a:spcPts val="100"/>
              </a:spcAft>
            </a:pPr>
            <a:endParaRPr sz="1200" b="0">
              <a:solidFill>
                <a:srgbClr val="668866"/>
              </a:solidFill>
              <a:latin typeface="Courier New"/>
            </a:endParaRPr>
          </a:p>
          <a:p>
            <a:pPr>
              <a:spcAft>
                <a:spcPts val="100"/>
              </a:spcAft>
            </a:pPr>
            <a:r>
              <a:rPr sz="1200" b="1">
                <a:solidFill>
                  <a:srgbClr val="79C7FF"/>
                </a:solidFill>
                <a:latin typeface="Courier New"/>
              </a:rPr>
              <a:t>run_benchmarks()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668866"/>
                </a:solidFill>
                <a:latin typeface="Courier New"/>
              </a:rPr>
              <a:t>    # loads tasks, calls scheduler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668866"/>
                </a:solidFill>
                <a:latin typeface="Courier New"/>
              </a:rPr>
              <a:t>    # executes workloads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668866"/>
                </a:solidFill>
                <a:latin typeface="Courier New"/>
              </a:rPr>
              <a:t>    # collects results</a:t>
            </a:r>
          </a:p>
          <a:p>
            <a:pPr>
              <a:spcAft>
                <a:spcPts val="100"/>
              </a:spcAft>
            </a:pPr>
            <a:endParaRPr sz="1200" b="0">
              <a:solidFill>
                <a:srgbClr val="668866"/>
              </a:solidFill>
              <a:latin typeface="Courier New"/>
            </a:endParaRPr>
          </a:p>
          <a:p>
            <a:pPr>
              <a:spcAft>
                <a:spcPts val="100"/>
              </a:spcAft>
            </a:pPr>
            <a:r>
              <a:rPr sz="1200" b="1">
                <a:solidFill>
                  <a:srgbClr val="F8C555"/>
                </a:solidFill>
                <a:latin typeface="Courier New"/>
              </a:rPr>
              <a:t>generate_all_plots()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668866"/>
                </a:solidFill>
                <a:latin typeface="Courier New"/>
              </a:rPr>
              <a:t>    # auto-creates all eval graphs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0" y="685800"/>
            <a:ext cx="4160520" cy="128016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754880" y="685800"/>
            <a:ext cx="36576" cy="1280160"/>
          </a:xfrm>
          <a:prstGeom prst="rect">
            <a:avLst/>
          </a:prstGeom>
          <a:solidFill>
            <a:srgbClr val="00A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46320" y="785800"/>
            <a:ext cx="403052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4F8A"/>
                </a:solidFill>
                <a:latin typeface="Cambria"/>
              </a:rPr>
              <a:t>CLI Trigger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1105800"/>
            <a:ext cx="403052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Execution starts from main.py.
Run with any supported --scheduler flag.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0" y="2115960"/>
            <a:ext cx="4160520" cy="128016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754880" y="2115960"/>
            <a:ext cx="36576" cy="1280160"/>
          </a:xfrm>
          <a:prstGeom prst="rect">
            <a:avLst/>
          </a:prstGeom>
          <a:solidFill>
            <a:srgbClr val="00A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46320" y="2215960"/>
            <a:ext cx="403052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4F8A"/>
                </a:solidFill>
                <a:latin typeface="Cambria"/>
              </a:rPr>
              <a:t>run_benchmarks()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2535960"/>
            <a:ext cx="403052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Loads tasks, invokes the selected scheduler,
executes workloads, collects runtime statistics,
and generates final results.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54880" y="3546120"/>
            <a:ext cx="4160520" cy="128016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754880" y="3546120"/>
            <a:ext cx="36576" cy="1280160"/>
          </a:xfrm>
          <a:prstGeom prst="rect">
            <a:avLst/>
          </a:prstGeom>
          <a:solidFill>
            <a:srgbClr val="00A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46320" y="3646120"/>
            <a:ext cx="403052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4F8A"/>
                </a:solidFill>
                <a:latin typeface="Cambria"/>
              </a:rPr>
              <a:t>generate_all_plots()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3966120"/>
            <a:ext cx="403052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Automatically creates every evaluation graph
used for benchmarking and performance analysis.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468350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4748B"/>
                </a:solidFill>
                <a:latin typeface="Calibri"/>
              </a:rPr>
              <a:t>main.py is the single entry point that ties the entire framework together — from task loading through scheduling, execution, and result generation.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412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mbria"/>
              </a:rPr>
              <a:t>Benchmark Pipeline — Project Coordinator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685800"/>
            <a:ext cx="2651760" cy="141732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411480" y="777240"/>
            <a:ext cx="457200" cy="457200"/>
          </a:xfrm>
          <a:prstGeom prst="ellipse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77724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6280" y="827240"/>
            <a:ext cx="195176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4F8A"/>
                </a:solidFill>
                <a:latin typeface="Cambria"/>
              </a:rPr>
              <a:t>Load Tasks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235800"/>
            <a:ext cx="246888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Read task set with memory
requirements, priorities, and
sensitivity values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6120" y="685800"/>
            <a:ext cx="2651760" cy="141732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337560" y="777240"/>
            <a:ext cx="457200" cy="457200"/>
          </a:xfrm>
          <a:prstGeom prst="ellipse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37560" y="77724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52360" y="827240"/>
            <a:ext cx="195176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4F8A"/>
                </a:solidFill>
                <a:latin typeface="Cambria"/>
              </a:rPr>
              <a:t>Invoke Scheduler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1235800"/>
            <a:ext cx="246888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Classical (FCFS / RR / Greedy)
or Quantum (RQAOA)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685800"/>
            <a:ext cx="2651760" cy="141732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263640" y="777240"/>
            <a:ext cx="457200" cy="457200"/>
          </a:xfrm>
          <a:prstGeom prst="ellipse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63640" y="77724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78440" y="827240"/>
            <a:ext cx="195176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4F8A"/>
                </a:solidFill>
                <a:latin typeface="Cambria"/>
              </a:rPr>
              <a:t>Receive Assignment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1235800"/>
            <a:ext cx="246888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DRAM-CXL placement decision
for every task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377440"/>
            <a:ext cx="2651760" cy="141732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411480" y="2468880"/>
            <a:ext cx="457200" cy="457200"/>
          </a:xfrm>
          <a:prstGeom prst="ellipse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11480" y="246888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6280" y="2518880"/>
            <a:ext cx="195176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4F8A"/>
                </a:solidFill>
                <a:latin typeface="Cambria"/>
              </a:rPr>
              <a:t>Trigger Execution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2927440"/>
            <a:ext cx="246888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Execution layer enforces
assignments and runs workloads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46120" y="2377440"/>
            <a:ext cx="2651760" cy="141732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3337560" y="2468880"/>
            <a:ext cx="457200" cy="457200"/>
          </a:xfrm>
          <a:prstGeom prst="ellipse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337560" y="246888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52360" y="2518880"/>
            <a:ext cx="195176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4F8A"/>
                </a:solidFill>
                <a:latin typeface="Cambria"/>
              </a:rPr>
              <a:t>Collect Statistics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37560" y="2927440"/>
            <a:ext cx="246888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Runtime logs captured
from each worker process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2200" y="2377440"/>
            <a:ext cx="2651760" cy="141732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6263640" y="2468880"/>
            <a:ext cx="457200" cy="457200"/>
          </a:xfrm>
          <a:prstGeom prst="ellipse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263640" y="246888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78440" y="2518880"/>
            <a:ext cx="195176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4F8A"/>
                </a:solidFill>
                <a:latin typeface="Cambria"/>
              </a:rPr>
              <a:t>Generate Results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40" y="2927440"/>
            <a:ext cx="246888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metrics.py + graphs.py
produce final evaluation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4640580"/>
            <a:ext cx="8503920" cy="3744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57200" y="4658868"/>
            <a:ext cx="8229600" cy="3378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 i="1">
                <a:solidFill>
                  <a:srgbClr val="1B4F8A"/>
                </a:solidFill>
                <a:latin typeface="Calibri"/>
              </a:rPr>
              <a:t>The benchmark pipeline connects optimization → execution → evaluation into one complete workflow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412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mbria"/>
              </a:rPr>
              <a:t>Scheduler Output → Execution Layer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658368"/>
            <a:ext cx="3566160" cy="3840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1323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A8CC"/>
                </a:solidFill>
                <a:latin typeface="Cambria"/>
              </a:rPr>
              <a:t>Memory Assignment Output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11887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Task 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115568"/>
            <a:ext cx="3657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1965960" y="1143000"/>
            <a:ext cx="1645920" cy="292608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965960" y="1143000"/>
            <a:ext cx="16459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10B981"/>
                </a:solidFill>
                <a:latin typeface="Calibri"/>
              </a:rPr>
              <a:t>DRAM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636776"/>
            <a:ext cx="11887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Task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1636776"/>
            <a:ext cx="3657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65960" y="1664208"/>
            <a:ext cx="1645920" cy="292608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965960" y="1664208"/>
            <a:ext cx="16459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F59E0B"/>
                </a:solidFill>
                <a:latin typeface="Calibri"/>
              </a:rPr>
              <a:t>CXL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157984"/>
            <a:ext cx="11887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Task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2157984"/>
            <a:ext cx="3657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65960" y="2185416"/>
            <a:ext cx="1645920" cy="292608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965960" y="2185416"/>
            <a:ext cx="16459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10B981"/>
                </a:solidFill>
                <a:latin typeface="Calibri"/>
              </a:rPr>
              <a:t>DRAM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2679192"/>
            <a:ext cx="11887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Task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2679192"/>
            <a:ext cx="3657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65960" y="2706624"/>
            <a:ext cx="1645920" cy="292608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965960" y="2706624"/>
            <a:ext cx="16459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F59E0B"/>
                </a:solidFill>
                <a:latin typeface="Calibri"/>
              </a:rPr>
              <a:t>CXL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200400"/>
            <a:ext cx="11887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Task 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3200400"/>
            <a:ext cx="3657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965960" y="3227832"/>
            <a:ext cx="1645920" cy="292608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965960" y="3227832"/>
            <a:ext cx="16459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10B981"/>
                </a:solidFill>
                <a:latin typeface="Calibri"/>
              </a:rPr>
              <a:t>DRAM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31920" y="1640000"/>
            <a:ext cx="18288" cy="14500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290000" y="2450000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63440" y="749808"/>
            <a:ext cx="4114800" cy="77724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663440" y="749808"/>
            <a:ext cx="54864" cy="777240"/>
          </a:xfrm>
          <a:prstGeom prst="rect">
            <a:avLst/>
          </a:prstGeom>
          <a:solidFill>
            <a:srgbClr val="00A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763440" y="841248"/>
            <a:ext cx="398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4F8A"/>
                </a:solidFill>
                <a:latin typeface="Cambria"/>
              </a:rPr>
              <a:t>Enforces Placement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63440" y="1115568"/>
            <a:ext cx="398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Each task runs in its assigned memory tier (DRAM or CXL)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63440" y="1600200"/>
            <a:ext cx="4114800" cy="77724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663440" y="1600200"/>
            <a:ext cx="54864" cy="7772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763440" y="1691640"/>
            <a:ext cx="398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4F8A"/>
                </a:solidFill>
                <a:latin typeface="Cambria"/>
              </a:rPr>
              <a:t>Runs Workloads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63440" y="1965960"/>
            <a:ext cx="398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Workers execute tasks and measure runtime for each assignment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63440" y="2450592"/>
            <a:ext cx="4114800" cy="77724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663440" y="2450592"/>
            <a:ext cx="54864" cy="777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763440" y="2542032"/>
            <a:ext cx="398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4F8A"/>
                </a:solidFill>
                <a:latin typeface="Cambria"/>
              </a:rPr>
              <a:t>Collects Runtime Stats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63440" y="2816352"/>
            <a:ext cx="398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Execution time, start/end timestamps, and latency recorded per task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63440" y="3300984"/>
            <a:ext cx="4114800" cy="77724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663440" y="3300984"/>
            <a:ext cx="54864" cy="777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763440" y="3392424"/>
            <a:ext cx="398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4F8A"/>
                </a:solidFill>
                <a:latin typeface="Cambria"/>
              </a:rPr>
              <a:t>Writes execution_log.csv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63440" y="3666744"/>
            <a:ext cx="398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The bridge between execution results and evaluation metrics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412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mbria"/>
              </a:rPr>
              <a:t>Execution Logs — execution_log.csv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685800"/>
            <a:ext cx="1188720" cy="36576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56616" y="731520"/>
            <a:ext cx="111556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Scheduler</a:t>
            </a:r>
          </a:p>
        </p:txBody>
      </p:sp>
      <p:sp>
        <p:nvSpPr>
          <p:cNvPr id="6" name="Rectangle 5"/>
          <p:cNvSpPr/>
          <p:nvPr/>
        </p:nvSpPr>
        <p:spPr>
          <a:xfrm>
            <a:off x="1508760" y="685800"/>
            <a:ext cx="822960" cy="36576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45336" y="731520"/>
            <a:ext cx="74980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Task ID</a:t>
            </a:r>
          </a:p>
        </p:txBody>
      </p:sp>
      <p:sp>
        <p:nvSpPr>
          <p:cNvPr id="8" name="Rectangle 7"/>
          <p:cNvSpPr/>
          <p:nvPr/>
        </p:nvSpPr>
        <p:spPr>
          <a:xfrm>
            <a:off x="2331720" y="685800"/>
            <a:ext cx="1005840" cy="36576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368296" y="731520"/>
            <a:ext cx="93268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Memory Tier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685800"/>
            <a:ext cx="914400" cy="36576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74136" y="731520"/>
            <a:ext cx="84124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Duration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60" y="685800"/>
            <a:ext cx="914400" cy="36576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88536" y="731520"/>
            <a:ext cx="84124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Start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66360" y="685800"/>
            <a:ext cx="914400" cy="36576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02936" y="731520"/>
            <a:ext cx="84124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End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80760" y="685800"/>
            <a:ext cx="1463040" cy="36576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117336" y="731520"/>
            <a:ext cx="138988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Latency Cost (ns)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1051560"/>
            <a:ext cx="1188720" cy="347472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56616" y="1097280"/>
            <a:ext cx="111556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RQAOA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508760" y="1051560"/>
            <a:ext cx="822960" cy="347472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545336" y="1097280"/>
            <a:ext cx="74980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31720" y="1051560"/>
            <a:ext cx="1005840" cy="347472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368296" y="1097280"/>
            <a:ext cx="93268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alibri"/>
              </a:rPr>
              <a:t>DRAM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37560" y="1051560"/>
            <a:ext cx="914400" cy="347472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374136" y="1097280"/>
            <a:ext cx="84124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0.043s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51960" y="1051560"/>
            <a:ext cx="914400" cy="347472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288536" y="1097280"/>
            <a:ext cx="84124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0.001s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166360" y="1051560"/>
            <a:ext cx="914400" cy="347472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202936" y="1097280"/>
            <a:ext cx="84124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0.044s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80760" y="1051560"/>
            <a:ext cx="1463040" cy="347472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117336" y="1097280"/>
            <a:ext cx="138988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alibri"/>
              </a:rPr>
              <a:t>~46,080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1399032"/>
            <a:ext cx="11887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56616" y="1444752"/>
            <a:ext cx="111556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RQAOA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508760" y="1399032"/>
            <a:ext cx="82296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545336" y="1444752"/>
            <a:ext cx="74980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331720" y="1399032"/>
            <a:ext cx="1005840" cy="347472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368296" y="1444752"/>
            <a:ext cx="93268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</a:rPr>
              <a:t>CXL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337560" y="1399032"/>
            <a:ext cx="9144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374136" y="1444752"/>
            <a:ext cx="84124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0.198s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51960" y="1399032"/>
            <a:ext cx="9144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288536" y="1444752"/>
            <a:ext cx="84124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0.044s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166360" y="1399032"/>
            <a:ext cx="9144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202936" y="1444752"/>
            <a:ext cx="84124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0.242s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80760" y="1399032"/>
            <a:ext cx="1463040" cy="347472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117336" y="1444752"/>
            <a:ext cx="138988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</a:rPr>
              <a:t>~218,880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0040" y="1746504"/>
            <a:ext cx="1188720" cy="347472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56616" y="1792224"/>
            <a:ext cx="111556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FCFS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508760" y="1746504"/>
            <a:ext cx="822960" cy="347472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545336" y="1792224"/>
            <a:ext cx="74980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331720" y="1746504"/>
            <a:ext cx="1005840" cy="347472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2368296" y="1792224"/>
            <a:ext cx="93268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alibri"/>
              </a:rPr>
              <a:t>DRAM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337560" y="1746504"/>
            <a:ext cx="914400" cy="347472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3374136" y="1792224"/>
            <a:ext cx="84124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0.041s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251960" y="1746504"/>
            <a:ext cx="914400" cy="347472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288536" y="1792224"/>
            <a:ext cx="84124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0.000s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166360" y="1746504"/>
            <a:ext cx="914400" cy="347472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5202936" y="1792224"/>
            <a:ext cx="84124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0.041s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080760" y="1746504"/>
            <a:ext cx="1463040" cy="347472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117336" y="1792224"/>
            <a:ext cx="138988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alibri"/>
              </a:rPr>
              <a:t>~44,160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20040" y="2093976"/>
            <a:ext cx="11887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356616" y="2139696"/>
            <a:ext cx="111556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FCFS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508760" y="2093976"/>
            <a:ext cx="82296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545336" y="2139696"/>
            <a:ext cx="74980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1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331720" y="2093976"/>
            <a:ext cx="1005840" cy="347472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2368296" y="2139696"/>
            <a:ext cx="93268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</a:rPr>
              <a:t>CXL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337560" y="2093976"/>
            <a:ext cx="9144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3374136" y="2139696"/>
            <a:ext cx="84124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0.201s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251960" y="2093976"/>
            <a:ext cx="9144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4288536" y="2139696"/>
            <a:ext cx="84124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0.041s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166360" y="2093976"/>
            <a:ext cx="9144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5202936" y="2139696"/>
            <a:ext cx="84124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0.242s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080760" y="2093976"/>
            <a:ext cx="1463040" cy="347472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6117336" y="2139696"/>
            <a:ext cx="138988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</a:rPr>
              <a:t>~221,440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20040" y="3310128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mbria"/>
              </a:rPr>
              <a:t>DRAM Assignment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20040" y="3639696"/>
            <a:ext cx="4114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~46,080 ns — fast memory tier, low access cost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20040" y="3310128"/>
            <a:ext cx="4114800" cy="9144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457200" y="3401568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mbria"/>
              </a:rPr>
              <a:t>DRAM Assignment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7200" y="3712464"/>
            <a:ext cx="3840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~46,080 ns latency — fast memory tier, low access cost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736592" y="3310128"/>
            <a:ext cx="4114800" cy="9144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4873752" y="3401568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Cambria"/>
              </a:rPr>
              <a:t>CXL Assignment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873752" y="3712464"/>
            <a:ext cx="3840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~218,880 ns latency — slower tier, higher access cost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20040" y="4370832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4748B"/>
                </a:solidFill>
                <a:latin typeface="Calibri"/>
              </a:rPr>
              <a:t>execution_log.csv = bridge between execution and evaluation — the execution layer writes it; the evaluation layer reads it to produce metrics and graphs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412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mbria"/>
              </a:rPr>
              <a:t>Latency Cost Calculation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731520"/>
            <a:ext cx="6949440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731520"/>
            <a:ext cx="69494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mbria"/>
              </a:rPr>
              <a:t>Latency Cost  ≈  Memory Size  ×  Sensitivity  ×  Tier Latency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920240"/>
            <a:ext cx="2743200" cy="173736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920240"/>
            <a:ext cx="2743200" cy="91440"/>
          </a:xfrm>
          <a:prstGeom prst="rect">
            <a:avLst/>
          </a:prstGeom>
          <a:solidFill>
            <a:srgbClr val="00A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20702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4F8A"/>
                </a:solidFill>
                <a:latin typeface="Cambria"/>
              </a:rPr>
              <a:t>Memory
Requirement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62024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Size of memory the task needs to execute.
Larger tasks have higher base cost.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920240"/>
            <a:ext cx="2743200" cy="173736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00400" y="1920240"/>
            <a:ext cx="2743200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91840" y="20702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4F8A"/>
                </a:solidFill>
                <a:latin typeface="Cambria"/>
              </a:rPr>
              <a:t>Memory
Sensitivity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62024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How much performance suffers if placed in
a slower tier. High-sensitivity tasks receive
a larger penalty in CXL.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80760" y="1920240"/>
            <a:ext cx="2743200" cy="173736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080760" y="1920240"/>
            <a:ext cx="274320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72200" y="20702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4F8A"/>
                </a:solidFill>
                <a:latin typeface="Cambria"/>
              </a:rPr>
              <a:t>Tier
Latency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262024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DRAM: ~80–100 ns (fast)
CXL: ~300–400 ns (3–5× slower)
Placement in CXL always costs more.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840480"/>
            <a:ext cx="8503920" cy="100584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391363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  <a:latin typeface="Cambria"/>
              </a:rPr>
              <a:t>Scheduler Objective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206240"/>
            <a:ext cx="8229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Minimize total latency cost across all tasks while respecting DRAM capacity constraints. Both classical schedulers and RQAOA optimize for this same objective.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412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mbria"/>
              </a:rPr>
              <a:t>Complete Workflow — Recap</a:t>
            </a:r>
          </a:p>
        </p:txBody>
      </p:sp>
      <p:sp>
        <p:nvSpPr>
          <p:cNvPr id="4" name="Rectangle 3"/>
          <p:cNvSpPr/>
          <p:nvPr/>
        </p:nvSpPr>
        <p:spPr>
          <a:xfrm>
            <a:off x="420624" y="1280160"/>
            <a:ext cx="1261872" cy="10972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66344" y="1371600"/>
            <a:ext cx="1170432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</a:rPr>
              <a:t>main.py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" y="2313440"/>
            <a:ext cx="1170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E2E8F0"/>
                </a:solidFill>
                <a:latin typeface="Calibri"/>
              </a:rPr>
              <a:t>CLI Entry Point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82496" y="1600200"/>
            <a:ext cx="14630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0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1280160"/>
            <a:ext cx="1261872" cy="109728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874520" y="1371600"/>
            <a:ext cx="1170432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</a:rPr>
              <a:t>Benchmark
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20" y="2313440"/>
            <a:ext cx="1170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E2E8F0"/>
                </a:solidFill>
                <a:latin typeface="Calibri"/>
              </a:rPr>
              <a:t>Central Controller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90672" y="1600200"/>
            <a:ext cx="14630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0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36976" y="1280160"/>
            <a:ext cx="1261872" cy="109728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82696" y="1371600"/>
            <a:ext cx="1170432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</a:rPr>
              <a:t>Scheduler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82696" y="2313440"/>
            <a:ext cx="1170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E2E8F0"/>
                </a:solidFill>
                <a:latin typeface="Calibri"/>
              </a:rPr>
              <a:t>Classical / RQAOA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8848" y="1600200"/>
            <a:ext cx="14630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0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45152" y="1280160"/>
            <a:ext cx="1261872" cy="10972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90872" y="1371600"/>
            <a:ext cx="1170432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</a:rPr>
              <a:t>Execution
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90872" y="2313440"/>
            <a:ext cx="1170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E2E8F0"/>
                </a:solidFill>
                <a:latin typeface="Calibri"/>
              </a:rPr>
              <a:t>Enforce + Run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07024" y="1600200"/>
            <a:ext cx="14630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0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53328" y="1280160"/>
            <a:ext cx="1261872" cy="109728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99048" y="1371600"/>
            <a:ext cx="1170432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</a:rPr>
              <a:t>Logs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9048" y="2313440"/>
            <a:ext cx="1170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E2E8F0"/>
                </a:solidFill>
                <a:latin typeface="Calibri"/>
              </a:rPr>
              <a:t>execution_log.csv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1600200"/>
            <a:ext cx="14630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0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61504" y="1280160"/>
            <a:ext cx="1261872" cy="10972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507224" y="1371600"/>
            <a:ext cx="1170432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</a:rPr>
              <a:t>Evaluation
Layer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07224" y="2313440"/>
            <a:ext cx="1170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E2E8F0"/>
                </a:solidFill>
                <a:latin typeface="Calibri"/>
              </a:rPr>
              <a:t>Metrics + Graphs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2606040"/>
            <a:ext cx="8503920" cy="22860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02920" y="2697480"/>
            <a:ext cx="81381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E293B"/>
                </a:solidFill>
                <a:latin typeface="Calibri"/>
              </a:rPr>
              <a:t>• main.py starts execution via run_benchmarks()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E293B"/>
                </a:solidFill>
                <a:latin typeface="Calibri"/>
              </a:rPr>
              <a:t>• Benchmark pipeline coordinates all modules end-to-end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E293B"/>
                </a:solidFill>
                <a:latin typeface="Calibri"/>
              </a:rPr>
              <a:t>• Scheduler (Classical or RQAOA) generates DRAM-CXL placement decisions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E293B"/>
                </a:solidFill>
                <a:latin typeface="Calibri"/>
              </a:rPr>
              <a:t>• Execution layer enforces those decisions, runs workloads, and writes execution_log.csv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E293B"/>
                </a:solidFill>
                <a:latin typeface="Calibri"/>
              </a:rPr>
              <a:t>• Evaluation layer reads the log and produces metrics and performance graphs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A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46304"/>
            <a:ext cx="841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mbria"/>
              </a:rP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840960"/>
            <a:ext cx="2743200" cy="155448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20040" y="840960"/>
            <a:ext cx="2743200" cy="91440"/>
          </a:xfrm>
          <a:prstGeom prst="rect">
            <a:avLst/>
          </a:prstGeom>
          <a:solidFill>
            <a:srgbClr val="00A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990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A8CC"/>
                </a:solidFill>
                <a:latin typeface="Cambria"/>
              </a:rPr>
              <a:t>01  Intelligent Scheduling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35000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Classical (FCFS, Round Robin, Greedy) and Quantum RQAOA schedulers generate optimized DRAM-CXL placement decisions.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840960"/>
            <a:ext cx="2743200" cy="155448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00400" y="840960"/>
            <a:ext cx="2743200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91840" y="990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  <a:latin typeface="Cambria"/>
              </a:rPr>
              <a:t>02  End-to-End Pipeline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135000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Execution layer enforces assignments, collects runtime stats, and feeds execution_log.csv to the evaluation layer for metrics and graphs.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80760" y="840960"/>
            <a:ext cx="2743200" cy="155448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080760" y="840960"/>
            <a:ext cx="274320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72200" y="990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mbria"/>
              </a:rPr>
              <a:t>03  Modular &amp; Scalable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135000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New schedulers or quantum algorithms plug in without touching execution or evaluation — built for future data-center memory management.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2614200"/>
            <a:ext cx="192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A8CC"/>
                </a:solidFill>
                <a:latin typeface="Cambria"/>
              </a:rPr>
              <a:t>What We Built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2980000"/>
            <a:ext cx="192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mbria"/>
              </a:rPr>
              <a:t>Tasks</a:t>
            </a:r>
          </a:p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  Mem req · Priority · Sensitivity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5760" y="3290000"/>
            <a:ext cx="2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3370000"/>
            <a:ext cx="192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mbria"/>
              </a:rPr>
              <a:t>Scheduler</a:t>
            </a:r>
          </a:p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  Classical / RQAOA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5760" y="3680000"/>
            <a:ext cx="2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3760000"/>
            <a:ext cx="192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mbria"/>
              </a:rPr>
              <a:t>Assignment</a:t>
            </a:r>
          </a:p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  DRAM or CXL per task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5760" y="4070000"/>
            <a:ext cx="2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4150000"/>
            <a:ext cx="192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mbria"/>
              </a:rPr>
              <a:t>Execution</a:t>
            </a:r>
          </a:p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  Enforce · Run · Log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5760" y="4460000"/>
            <a:ext cx="2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4540000"/>
            <a:ext cx="192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mbria"/>
              </a:rPr>
              <a:t>Evaluation</a:t>
            </a:r>
          </a:p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  Metrics · Graphs · Results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04D6B23C-CB56-2E2A-567B-2B636B388D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3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808</Words>
  <Application>Microsoft Office PowerPoint</Application>
  <PresentationFormat>On-screen Show (16:9)</PresentationFormat>
  <Paragraphs>166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Devu E</cp:lastModifiedBy>
  <cp:revision>3</cp:revision>
  <dcterms:created xsi:type="dcterms:W3CDTF">2013-01-27T09:14:16Z</dcterms:created>
  <dcterms:modified xsi:type="dcterms:W3CDTF">2026-07-06T06:50:57Z</dcterms:modified>
  <cp:category/>
</cp:coreProperties>
</file>